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6E96"/>
                </a:solidFill>
                <a:latin typeface="Consolas"/>
              </a:rPr>
              <a:t>CONDITIONAL BUDDIES  ·  WEEKLY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222630"/>
                </a:solidFill>
                <a:latin typeface="Calibri"/>
              </a:rPr>
              <a:t>Conditional Buddies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55D6B"/>
                </a:solidFill>
                <a:latin typeface="Consolas"/>
              </a:rPr>
              <a:t>Cross-VLM signal validation</a:t>
            </a:r>
            <a:r>
              <a:rPr sz="2000" b="1" i="0">
                <a:solidFill>
                  <a:srgbClr val="1B6E96"/>
                </a:solidFill>
                <a:latin typeface="Consolas"/>
              </a:rPr>
              <a:t>   →   </a:t>
            </a:r>
            <a:r>
              <a:rPr sz="1800" b="1" i="0">
                <a:solidFill>
                  <a:srgbClr val="222630"/>
                </a:solidFill>
                <a:latin typeface="Consolas"/>
              </a:rPr>
              <a:t>Does it actually help retrieval, at scale?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0408" y="4434840"/>
            <a:ext cx="1097280" cy="38100"/>
          </a:xfrm>
          <a:prstGeom prst="rect">
            <a:avLst/>
          </a:prstGeom>
          <a:solidFill>
            <a:srgbClr val="1B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What is a “conditional buddy”?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55D6B"/>
                </a:solidFill>
                <a:latin typeface="Calibri"/>
              </a:rPr>
              <a:t>CoSiR gives every sample a trainable </a:t>
            </a:r>
            <a:r>
              <a:rPr sz="1350" b="1" i="0">
                <a:solidFill>
                  <a:srgbClr val="222630"/>
                </a:solidFill>
                <a:latin typeface="Consolas"/>
              </a:rPr>
              <a:t>condition vector z</a:t>
            </a:r>
            <a:r>
              <a:rPr sz="1350" b="0" i="0">
                <a:solidFill>
                  <a:srgbClr val="555D6B"/>
                </a:solidFill>
                <a:latin typeface="Calibri"/>
              </a:rPr>
              <a:t> (dim 16) that gets combined with frozen CLIP features. It needs a starting value. A </a:t>
            </a:r>
            <a:r>
              <a:rPr sz="1350" b="1" i="0">
                <a:solidFill>
                  <a:srgbClr val="222630"/>
                </a:solidFill>
                <a:latin typeface="Calibri"/>
              </a:rPr>
              <a:t>buddy</a:t>
            </a:r>
            <a:r>
              <a:rPr sz="1350" b="0" i="0">
                <a:solidFill>
                  <a:srgbClr val="555D6B"/>
                </a:solidFill>
                <a:latin typeface="Calibri"/>
              </a:rPr>
              <a:t> is a content-aware way to pick that starting value, instead of a generic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222630"/>
                </a:solidFill>
                <a:latin typeface="Calibri"/>
              </a:rPr>
              <a:t>Definition: </a:t>
            </a:r>
            <a:r>
              <a:rPr sz="1350" b="0" i="0">
                <a:solidFill>
                  <a:srgbClr val="555D6B"/>
                </a:solidFill>
                <a:latin typeface="Calibri"/>
              </a:rPr>
              <a:t>for each sample, find its mutual nearest neighbor in CLIP image space and its mutual nearest neighbor in CLIP text space (K=30 each). Two graphs result: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606040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60350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Graph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Rule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Property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2451E"/>
                          </a:solidFill>
                          <a:latin typeface="Calibri"/>
                        </a:rPr>
                        <a:t>B  (strict)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mutual-NN in BOTH image AND text space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sparse, but very precise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6E96"/>
                          </a:solidFill>
                          <a:latin typeface="Calibri"/>
                        </a:rPr>
                        <a:t>E  (union)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mutual-NN in EITHER space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dense, fully connects the data — this is the one that actually seeds z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343400"/>
            <a:ext cx="11155680" cy="868680"/>
          </a:xfrm>
          <a:prstGeom prst="roundRect">
            <a:avLst>
              <a:gd name="adj" fmla="val 12000"/>
            </a:avLst>
          </a:prstGeom>
          <a:solidFill>
            <a:srgbClr val="DEEEF4"/>
          </a:solidFill>
          <a:ln w="9525">
            <a:solidFill>
              <a:srgbClr val="B7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453128"/>
            <a:ext cx="10753344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630"/>
                </a:solidFill>
                <a:latin typeface="Calibri"/>
              </a:rPr>
              <a:t>Everything in this deck asks one of two questions: </a:t>
            </a:r>
            <a:r>
              <a:rPr sz="1300" b="1" i="0">
                <a:solidFill>
                  <a:srgbClr val="222630"/>
                </a:solidFill>
                <a:latin typeface="Calibri"/>
              </a:rPr>
              <a:t>(1) is this graph meaningful?</a:t>
            </a:r>
            <a:r>
              <a:rPr sz="1300" b="0" i="0">
                <a:solidFill>
                  <a:srgbClr val="222630"/>
                </a:solidFill>
                <a:latin typeface="Calibri"/>
              </a:rPr>
              <a:t> and later </a:t>
            </a:r>
            <a:r>
              <a:rPr sz="1300" b="1" i="0">
                <a:solidFill>
                  <a:srgbClr val="222630"/>
                </a:solidFill>
                <a:latin typeface="Calibri"/>
              </a:rPr>
              <a:t>(2) does using it actually improve retrieval?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22630"/>
                </a:solidFill>
                <a:latin typeface="Calibri"/>
              </a:rPr>
              <a:t>Recap: is the buddy signal real? (not a CLIP artifact)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D6B"/>
                </a:solidFill>
                <a:latin typeface="Calibri"/>
              </a:rPr>
              <a:t>Tested on two datasets with opposite structure: </a:t>
            </a:r>
            <a:r>
              <a:rPr sz="1250" b="1" i="0">
                <a:solidFill>
                  <a:srgbClr val="222630"/>
                </a:solidFill>
                <a:latin typeface="Calibri"/>
              </a:rPr>
              <a:t>Impressions</a:t>
            </a:r>
            <a:r>
              <a:rPr sz="1250" b="0" i="0">
                <a:solidFill>
                  <a:srgbClr val="555D6B"/>
                </a:solidFill>
                <a:latin typeface="Calibri"/>
              </a:rPr>
              <a:t> (12,123 records but only 814 unique source photos — lots of near-duplicates) and </a:t>
            </a:r>
            <a:r>
              <a:rPr sz="1250" b="1" i="0">
                <a:solidFill>
                  <a:srgbClr val="222630"/>
                </a:solidFill>
                <a:latin typeface="Calibri"/>
              </a:rPr>
              <a:t>RedCaps</a:t>
            </a:r>
            <a:r>
              <a:rPr sz="1250" b="0" i="0">
                <a:solidFill>
                  <a:srgbClr val="555D6B"/>
                </a:solidFill>
                <a:latin typeface="Calibri"/>
              </a:rPr>
              <a:t> (genuinely 1 image : 1 caption, no duplicates at all, 350 topical subreddits as free ground truth). Three independent checks, each answering “do buddy pairs share real content?”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6596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06240"/>
                <a:gridCol w="502920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09B"/>
                          </a:solidFill>
                          <a:latin typeface="Consolas"/>
                        </a:rPr>
                        <a:t>Metric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09B"/>
                          </a:solidFill>
                          <a:latin typeface="Consolas"/>
                        </a:rPr>
                        <a:t>What it measures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09B"/>
                          </a:solidFill>
                          <a:latin typeface="Consolas"/>
                        </a:rPr>
                        <a:t>What “good” looks like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630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P(buddy pair shares a label) / P(random pair shares that label). 1.0× = chance.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55D6B"/>
                          </a:solidFill>
                          <a:latin typeface="Calibri"/>
                        </a:rPr>
                        <a:t>Impressions type lift: 1.5–3×  ·  RedCaps subreddit lift: </a:t>
                      </a:r>
                      <a:r>
                        <a:rPr sz="1150" b="1">
                          <a:solidFill>
                            <a:srgbClr val="1B6E96"/>
                          </a:solidFill>
                          <a:latin typeface="Consolas"/>
                        </a:rPr>
                        <a:t>~20×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630"/>
                          </a:solidFill>
                          <a:latin typeface="Calibri"/>
                        </a:rPr>
                        <a:t>Held-out encoder distance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Feed buddy pairs through an encoder that never built the graph (DINOv2); compare buddy-pair distance to random-pair distance. Buddies closer = real.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Impressions cross-photo: 0.39 vs 0.95 (random)  ·  RedCaps: 0.39 vs 0.97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630"/>
                          </a:solidFill>
                          <a:latin typeface="Calibri"/>
                        </a:rPr>
                        <a:t>VLM judge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Ask Qwen2.5-VL (uninvolved in graph-building) “does this buddy’s caption actually describe this image?”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Impressions: 74% GOOD vs 1% random  ·  RedCaps: 81% GOOD vs 7% same-topic-random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074920"/>
            <a:ext cx="11155680" cy="777240"/>
          </a:xfrm>
          <a:prstGeom prst="roundRect">
            <a:avLst>
              <a:gd name="adj" fmla="val 12000"/>
            </a:avLst>
          </a:prstGeom>
          <a:solidFill>
            <a:srgbClr val="DEEEF4"/>
          </a:solidFill>
          <a:ln w="9525">
            <a:solidFill>
              <a:srgbClr val="B7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184648"/>
            <a:ext cx="1075334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2630"/>
                </a:solidFill>
                <a:latin typeface="Calibri"/>
              </a:rPr>
              <a:t>Conclusion: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buddies connect samples with real shared content on both a near-duplicate-heavy dataset and a fully deduplicated one. Not a CLIP artifact, not a near-duplicate artifact.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Does it survive held-out encoders?</a:t>
            </a:r>
            <a:r>
              <a:rPr sz="2800" b="1" i="0">
                <a:solidFill>
                  <a:srgbClr val="1B6E96"/>
                </a:solidFill>
                <a:latin typeface="Calibri"/>
              </a:rPr>
              <a:t>   24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D6B"/>
                </a:solidFill>
                <a:latin typeface="Calibri"/>
              </a:rPr>
              <a:t>Prior check used one held-out encoder (DINOv2, vision only). This widened it to </a:t>
            </a:r>
            <a:r>
              <a:rPr sz="1300" b="1" i="0">
                <a:solidFill>
                  <a:srgbClr val="222630"/>
                </a:solidFill>
                <a:latin typeface="Calibri"/>
              </a:rPr>
              <a:t>3 vision encoders</a:t>
            </a:r>
            <a:r>
              <a:rPr sz="1300" b="0" i="0">
                <a:solidFill>
                  <a:srgbClr val="555D6B"/>
                </a:solidFill>
                <a:latin typeface="Calibri"/>
              </a:rPr>
              <a:t> (self-supervised DINOv2, sigmoid-VLM SigLIP, supervised ViT) × </a:t>
            </a:r>
            <a:r>
              <a:rPr sz="1300" b="1" i="0">
                <a:solidFill>
                  <a:srgbClr val="222630"/>
                </a:solidFill>
                <a:latin typeface="Calibri"/>
              </a:rPr>
              <a:t>3 language encoders</a:t>
            </a:r>
            <a:r>
              <a:rPr sz="1300" b="0" i="0">
                <a:solidFill>
                  <a:srgbClr val="555D6B"/>
                </a:solidFill>
                <a:latin typeface="Calibri"/>
              </a:rPr>
              <a:t> (MiniLM, BGE, E5) — none of which touched the graph — × 2 graphs (B, E) × 2 datasets = </a:t>
            </a:r>
            <a:r>
              <a:rPr sz="1300" b="1" i="0">
                <a:solidFill>
                  <a:srgbClr val="222630"/>
                </a:solidFill>
                <a:latin typeface="Calibri"/>
              </a:rPr>
              <a:t>24 cells</a:t>
            </a:r>
            <a:r>
              <a:rPr sz="1300" b="0" i="0">
                <a:solidFill>
                  <a:srgbClr val="555D6B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58568"/>
            <a:ext cx="1075334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22630"/>
                </a:solidFill>
                <a:latin typeface="Calibri"/>
              </a:rPr>
              <a:t>Metric: </a:t>
            </a:r>
            <a:r>
              <a:rPr sz="1250" b="0" i="0">
                <a:solidFill>
                  <a:srgbClr val="555D6B"/>
                </a:solidFill>
                <a:latin typeface="Calibri"/>
              </a:rPr>
              <a:t>same held-out distance ratio as before (buddy-pair distance ÷ random-pair distance, in the held-out encoder’s own space). Ratio &lt; 1 = buddies are closer than random = signal confirmed.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154680"/>
          <a:ext cx="11155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566160"/>
                <a:gridCol w="356616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Impressions (mean ratio)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RedCaps (mean ratio)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30"/>
                          </a:solidFill>
                          <a:latin typeface="Calibri"/>
                        </a:rPr>
                        <a:t>Vision encoders, B / 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630"/>
                          </a:solidFill>
                          <a:latin typeface="Consolas"/>
                        </a:rPr>
                        <a:t>0.38 / 0.66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630"/>
                          </a:solidFill>
                          <a:latin typeface="Consolas"/>
                        </a:rPr>
                        <a:t>0.40 / 0.58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30"/>
                          </a:solidFill>
                          <a:latin typeface="Calibri"/>
                        </a:rPr>
                        <a:t>Text encoders, B / 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630"/>
                          </a:solidFill>
                          <a:latin typeface="Consolas"/>
                        </a:rPr>
                        <a:t>0.51 / 0.73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630"/>
                          </a:solidFill>
                          <a:latin typeface="Consolas"/>
                        </a:rPr>
                        <a:t>0.48 / 0.70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892040"/>
            <a:ext cx="11155680" cy="960120"/>
          </a:xfrm>
          <a:prstGeom prst="roundRect">
            <a:avLst>
              <a:gd name="adj" fmla="val 12000"/>
            </a:avLst>
          </a:prstGeom>
          <a:solidFill>
            <a:srgbClr val="DEEEF4"/>
          </a:solidFill>
          <a:ln w="9525">
            <a:solidFill>
              <a:srgbClr val="B7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001768"/>
            <a:ext cx="1075334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2630"/>
                </a:solidFill>
                <a:latin typeface="Calibri"/>
              </a:rPr>
              <a:t>Result: 24/24 cells confirm buddies closer than random.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Not a single-encoder artifact, not a single-modality artifact. Strict B is consistently tighter than union E in every cell — a recurring pattern (E buys full connectivity at the cost of noisier neighbors).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22630"/>
                </a:solidFill>
                <a:latin typeface="Calibri"/>
              </a:rPr>
              <a:t>Does it survive rebuilding the graph with a different VLM entirely?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5D6B"/>
                </a:solidFill>
                <a:latin typeface="Calibri"/>
              </a:rPr>
              <a:t>Everything above kept the graph fixed (built from CLIP) and only scored it with other encoders. This experiment </a:t>
            </a:r>
            <a:r>
              <a:rPr sz="1150" b="1" i="0">
                <a:solidFill>
                  <a:srgbClr val="222630"/>
                </a:solidFill>
                <a:latin typeface="Calibri"/>
              </a:rPr>
              <a:t>rebuilds the buddy graph from scratch</a:t>
            </a:r>
            <a:r>
              <a:rPr sz="1150" b="0" i="0">
                <a:solidFill>
                  <a:srgbClr val="555D6B"/>
                </a:solidFill>
                <a:latin typeface="Calibri"/>
              </a:rPr>
              <a:t> with 16 different (vision × text) encoder combinations — 4 vision towers × 4 text towers, RedCaps-150k — and asks: are the same edges found again?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84247"/>
            <a:ext cx="508406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6E96"/>
                </a:solidFill>
                <a:latin typeface="Calibri"/>
              </a:rPr>
              <a:t>Metric 1 — edge-recurrence lift: </a:t>
            </a:r>
            <a:r>
              <a:rPr sz="1150" b="0" i="0">
                <a:solidFill>
                  <a:srgbClr val="555D6B"/>
                </a:solidFill>
                <a:latin typeface="Calibri"/>
              </a:rPr>
              <a:t>observed Jaccard overlap between two graphs ÷ expected overlap under chance. 1× = no better than random.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7"/>
            <a:ext cx="508406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6E96"/>
                </a:solidFill>
                <a:latin typeface="Calibri"/>
              </a:rPr>
              <a:t>Metric 2 — consensus core: </a:t>
            </a:r>
            <a:r>
              <a:rPr sz="1150" b="0" i="0">
                <a:solidFill>
                  <a:srgbClr val="555D6B"/>
                </a:solidFill>
                <a:latin typeface="Calibri"/>
              </a:rPr>
              <a:t>edges that appear in all 16 of the 16 encoder combinations — the edges that don’t depend on which VLM you used at all.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2926080"/>
          <a:ext cx="111556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84048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Median edge overlap vs chance (lift)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B: ~176,000×   ·   E: ~2,650×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Exact edges recurring between any two arbitrary encoder pairs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630"/>
                          </a:solidFill>
                          <a:latin typeface="Consolas"/>
                        </a:rPr>
                        <a:t>~20%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Core surviving all 16 combinations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22630"/>
                          </a:solidFill>
                          <a:latin typeface="Consolas"/>
                        </a:rPr>
                        <a:t>2,915 edges (B)  /  174,161 edges (E)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Subreddit-coherence lift of that core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12–23×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4983480"/>
            <a:ext cx="11155680" cy="1234440"/>
          </a:xfrm>
          <a:prstGeom prst="roundRect">
            <a:avLst>
              <a:gd name="adj" fmla="val 12000"/>
            </a:avLst>
          </a:prstGeom>
          <a:solidFill>
            <a:srgbClr val="DEEEF4"/>
          </a:solidFill>
          <a:ln w="9525">
            <a:solidFill>
              <a:srgbClr val="B7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093208"/>
            <a:ext cx="10753344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2630"/>
                </a:solidFill>
                <a:latin typeface="Calibri"/>
              </a:rPr>
              <a:t>Secondary finding: 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the vision encoder drives most of the variation — swapping text barely moves agreement (J~0.49–0.52), swapping vision moves it much more (~0.13–0.41). </a:t>
            </a:r>
            <a:r>
              <a:rPr sz="1150" b="1" i="0">
                <a:solidFill>
                  <a:srgbClr val="222630"/>
                </a:solidFill>
                <a:latin typeface="Calibri"/>
              </a:rPr>
              <a:t>Conclusion: buddies are not a property of CLIP specifically — they’re a property of the underlying image–text data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, with a real, semantically-coherent consensus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Does using buddies during training help?</a:t>
            </a:r>
            <a:r>
              <a:rPr sz="2200" b="0" i="0">
                <a:solidFill>
                  <a:srgbClr val="8A909B"/>
                </a:solidFill>
                <a:latin typeface="Calibri"/>
              </a:rPr>
              <a:t>   (mostly null)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D6B"/>
                </a:solidFill>
                <a:latin typeface="Calibri"/>
              </a:rPr>
              <a:t>Everything so far only used the buddy graph to </a:t>
            </a:r>
            <a:r>
              <a:rPr sz="1250" b="1" i="0">
                <a:solidFill>
                  <a:srgbClr val="222630"/>
                </a:solidFill>
                <a:latin typeface="Calibri"/>
              </a:rPr>
              <a:t>initialize</a:t>
            </a:r>
            <a:r>
              <a:rPr sz="1250" b="0" i="0">
                <a:solidFill>
                  <a:srgbClr val="555D6B"/>
                </a:solidFill>
                <a:latin typeface="Calibri"/>
              </a:rPr>
              <a:t> z. This tested three ways to keep using it during training (Impressions, then cross-checked on RedCaps):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19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9768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09B"/>
                          </a:solidFill>
                          <a:latin typeface="Consolas"/>
                        </a:rPr>
                        <a:t>Family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09B"/>
                          </a:solidFill>
                          <a:latin typeface="Consolas"/>
                        </a:rPr>
                        <a:t>Mechanism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8A909B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630"/>
                          </a:solidFill>
                          <a:latin typeface="Calibri"/>
                        </a:rPr>
                        <a:t>#1 — Smoothness regularizer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penalize ||z_i − z_j||² for buddy pairs every step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8A909B"/>
                          </a:solidFill>
                          <a:latin typeface="Consolas"/>
                        </a:rPr>
                        <a:t>NULL</a:t>
                      </a:r>
                      <a:r>
                        <a:rPr sz="1150" b="0">
                          <a:solidFill>
                            <a:srgbClr val="555D6B"/>
                          </a:solidFill>
                          <a:latin typeface="Calibri"/>
                        </a:rPr>
                        <a:t> — didn’t survive seed replication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630"/>
                          </a:solidFill>
                          <a:latin typeface="Calibri"/>
                        </a:rPr>
                        <a:t>#2 — Contrastive supervision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treat buddies as extra positive pairs in the retrieval loss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6E96"/>
                          </a:solidFill>
                          <a:latin typeface="Consolas"/>
                        </a:rPr>
                        <a:t>REAL WIN on Impressions</a:t>
                      </a:r>
                      <a:r>
                        <a:rPr sz="1150" b="0">
                          <a:solidFill>
                            <a:srgbClr val="555D6B"/>
                          </a:solidFill>
                          <a:latin typeface="Calibri"/>
                        </a:rPr>
                        <a:t> (+2.3 t2i / +3.2 i2t) — but see below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630"/>
                          </a:solidFill>
                          <a:latin typeface="Calibri"/>
                        </a:rPr>
                        <a:t>#3 — Self-refreshing graph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22630"/>
                          </a:solidFill>
                          <a:latin typeface="Calibri"/>
                        </a:rPr>
                        <a:t>rebuild the buddy graph periodically as z evolves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8A909B"/>
                          </a:solidFill>
                          <a:latin typeface="Consolas"/>
                        </a:rPr>
                        <a:t>NULL</a:t>
                      </a:r>
                      <a:r>
                        <a:rPr sz="1150" b="0">
                          <a:solidFill>
                            <a:srgbClr val="555D6B"/>
                          </a:solidFill>
                          <a:latin typeface="Calibri"/>
                        </a:rPr>
                        <a:t> — no different from a static graph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840480"/>
            <a:ext cx="11155680" cy="1234440"/>
          </a:xfrm>
          <a:prstGeom prst="roundRect">
            <a:avLst>
              <a:gd name="adj" fmla="val 12000"/>
            </a:avLst>
          </a:prstGeom>
          <a:solidFill>
            <a:srgbClr val="F6E1D6"/>
          </a:solidFill>
          <a:ln w="9525">
            <a:solidFill>
              <a:srgbClr val="E3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950208"/>
            <a:ext cx="10753344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2451E"/>
                </a:solidFill>
                <a:latin typeface="Calibri"/>
              </a:rPr>
              <a:t>The catch on #2: 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transplanting the same setting to RedCaps (no near-duplicates) gave +0.4 t2i / −0.9 i2t — a wash-to-negative. 40.6% of the Impressions buddy edges the term optimizes connect records of the same source photo (279× enriched) — much of the “win” was tightening near-identical images, not learning transferable retrieval structure. RedCaps has 0% same-photo edges by construction.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22630"/>
                </a:solidFill>
                <a:latin typeface="Calibri"/>
              </a:rPr>
              <a:t>Conclusion: </a:t>
            </a:r>
            <a:r>
              <a:rPr sz="1200" b="0" i="0">
                <a:solidFill>
                  <a:srgbClr val="555D6B"/>
                </a:solidFill>
                <a:latin typeface="Calibri"/>
              </a:rPr>
              <a:t>of three ways to exploit the signal during training, two are inert and the one that looked promising was substantially a near-duplicate artifact. This motivated going back to the simplest, cleanest use of the signal — initialization only (next).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2630"/>
                </a:solidFill>
                <a:latin typeface="Calibri"/>
              </a:rPr>
              <a:t>Does buddy-graph initialization beat generic initialization? — 150k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11556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1075334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22630"/>
                </a:solidFill>
                <a:latin typeface="Calibri"/>
              </a:rPr>
              <a:t>Metric: </a:t>
            </a:r>
            <a:r>
              <a:rPr sz="1200" b="0" i="0">
                <a:solidFill>
                  <a:srgbClr val="555D6B"/>
                </a:solidFill>
                <a:latin typeface="Calibri"/>
              </a:rPr>
              <a:t>paired Recall@1 delta (buddies − imgtxt) at matched seed, same operating point. </a:t>
            </a:r>
            <a:r>
              <a:rPr sz="1200" b="1" i="0">
                <a:solidFill>
                  <a:srgbClr val="222630"/>
                </a:solidFill>
                <a:latin typeface="Consolas"/>
              </a:rPr>
              <a:t>mean/SEM</a:t>
            </a:r>
            <a:r>
              <a:rPr sz="1200" b="0" i="0">
                <a:solidFill>
                  <a:srgbClr val="555D6B"/>
                </a:solidFill>
                <a:latin typeface="Calibri"/>
              </a:rPr>
              <a:t> is the significance read used throughout — the mean delta ÷ its standard error across 3 seeds; |mean/SEM| ≥ 2 is the bar for “reliably different from noise” (measured noise floor ~0.1–0.7 R1).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42316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539496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Dataset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Δ t2i R1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Δ i2t R1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630"/>
                          </a:solidFill>
                          <a:latin typeface="Calibri"/>
                        </a:rPr>
                        <a:t>RedCaps-150k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+4.00 ± 0.26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+4.57 ± 0.72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clean win — 3/3 seeds, both directions (mean/SEM +26.2 / +10.9)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630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B2451E"/>
                          </a:solidFill>
                          <a:latin typeface="Consolas"/>
                        </a:rPr>
                        <a:t>−1.60 ± 0.62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+3.00 ± 1.18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split — i2t wins, t2i loses, both real (mean/SEM −4.4 / +4.4)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526280"/>
            <a:ext cx="11155680" cy="1234440"/>
          </a:xfrm>
          <a:prstGeom prst="roundRect">
            <a:avLst>
              <a:gd name="adj" fmla="val 12000"/>
            </a:avLst>
          </a:prstGeom>
          <a:solidFill>
            <a:srgbClr val="DEEEF4"/>
          </a:solidFill>
          <a:ln w="9525">
            <a:solidFill>
              <a:srgbClr val="B7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636008"/>
            <a:ext cx="10753344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2630"/>
                </a:solidFill>
                <a:latin typeface="Calibri"/>
              </a:rPr>
              <a:t>Reading: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buddy-init is a genuine, seed-replicated improvement over the generic baseline on RedCaps (both directions) and on Impressions’ i2t direction — but a genuine, seed-replicated regression on Impressions’ t2i direction. Net positive (3 of 4 cells), not a clean sweep.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Does the win hold at 2× scale? — RedCaps 300k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D6B"/>
                </a:solidFill>
                <a:latin typeface="Calibri"/>
              </a:rPr>
              <a:t>Repeated the RedCaps comparison at double the training data (150k → 300k rows) to check the win isn’t a small-scale artifact.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6596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475488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Dataset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Δ t2i R1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Δ i2t R1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A909B"/>
                          </a:solidFill>
                          <a:latin typeface="Calibri"/>
                        </a:rPr>
                        <a:t>RedCaps-150k (reference)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8A909B"/>
                          </a:solidFill>
                          <a:latin typeface="Consolas"/>
                        </a:rPr>
                        <a:t>+4.00 ± 0.26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8A909B"/>
                          </a:solidFill>
                          <a:latin typeface="Consolas"/>
                        </a:rPr>
                        <a:t>+4.57 ± 0.72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8A909B"/>
                          </a:solidFill>
                          <a:latin typeface="Calibri"/>
                        </a:rPr>
                        <a:t>clean win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630"/>
                          </a:solidFill>
                          <a:latin typeface="Calibri"/>
                        </a:rPr>
                        <a:t>RedCaps-300k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+7.43 ± 0.93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6E96"/>
                          </a:solidFill>
                          <a:latin typeface="Consolas"/>
                        </a:rPr>
                        <a:t>+5.00 ± 1.20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630"/>
                          </a:solidFill>
                          <a:latin typeface="Calibri"/>
                        </a:rPr>
                        <a:t>clean win, larger &amp; tight — 3/3 seeds (mean/SEM +13.9 / +7.2)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16052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DEEEF4"/>
          </a:solidFill>
          <a:ln w="9525">
            <a:solidFill>
              <a:srgbClr val="B7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70248"/>
            <a:ext cx="10753344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2630"/>
                </a:solidFill>
                <a:latin typeface="Calibri"/>
              </a:rPr>
              <a:t>Conclusion: </a:t>
            </a:r>
            <a:r>
              <a:rPr sz="1300" b="0" i="0">
                <a:solidFill>
                  <a:srgbClr val="222630"/>
                </a:solidFill>
                <a:latin typeface="Calibri"/>
              </a:rPr>
              <a:t>the RedCaps win is not a 150k-specific fluke — it holds, if anything strengthened, at double the data. (Impressions was not re-run at scale this round — out of scope given this week’s time budget.)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24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2451E"/>
                </a:solidFill>
                <a:latin typeface="Consolas"/>
              </a:rPr>
              <a:t>⚠  CONDITIONAL BUDDIES · WEEKLY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B2451E"/>
                </a:solidFill>
                <a:latin typeface="Calibri"/>
              </a:rPr>
              <a:t>The catch: neither initialization beats plain CLIP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D6B"/>
                </a:solidFill>
                <a:latin typeface="Calibri"/>
              </a:rPr>
              <a:t>This is the sobering finding from this week. </a:t>
            </a:r>
            <a:r>
              <a:rPr sz="1200" b="1" i="0">
                <a:solidFill>
                  <a:srgbClr val="222630"/>
                </a:solidFill>
                <a:latin typeface="Consolas"/>
              </a:rPr>
              <a:t>imgtxt</a:t>
            </a:r>
            <a:r>
              <a:rPr sz="1200" b="0" i="0">
                <a:solidFill>
                  <a:srgbClr val="555D6B"/>
                </a:solidFill>
                <a:latin typeface="Calibri"/>
              </a:rPr>
              <a:t> is a within-model alternative, not an external baseline — it’s still our own conditioning pipeline, just seeded differently.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75688"/>
            <a:ext cx="1075334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2630"/>
                </a:solidFill>
                <a:latin typeface="Consolas"/>
              </a:rPr>
              <a:t>Metric — test_pre_diff: </a:t>
            </a:r>
            <a:r>
              <a:rPr sz="1150" b="0" i="0">
                <a:solidFill>
                  <a:srgbClr val="555D6B"/>
                </a:solidFill>
                <a:latin typeface="Calibri"/>
              </a:rPr>
              <a:t>(our conditioned model’s retrieval) − (raw CLIP retrieval), using the model’s actual deployable prediction path (single forward pass, not a cheating best-of-all-labels search). Negative = CLIP wins.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F0EEEA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2630"/>
                </a:solidFill>
                <a:latin typeface="Consolas"/>
              </a:rPr>
              <a:t>RedCaps-300k raw CLIP baseline  ·  t2i R1 = 28.1  ·  i2t R1 = 29.7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3520440"/>
          <a:ext cx="11155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2377440"/>
                <a:gridCol w="219456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test_pre_diff (mean, 3 seeds)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imgtxt-init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buddies-init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8A909B"/>
                          </a:solidFill>
                          <a:latin typeface="Consolas"/>
                        </a:rPr>
                        <a:t>gap closed vs imgtxt</a:t>
                      </a:r>
                    </a:p>
                  </a:txBody>
                  <a:tcPr marL="127000" marR="127000" marT="76200" marB="76200" anchor="ctr">
                    <a:solidFill>
                      <a:srgbClr val="F0EEE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30"/>
                          </a:solidFill>
                          <a:latin typeface="Calibri"/>
                        </a:rPr>
                        <a:t>t2i R1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2451E"/>
                          </a:solidFill>
                          <a:latin typeface="Consolas"/>
                        </a:rPr>
                        <a:t>−13.97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2451E"/>
                          </a:solidFill>
                          <a:latin typeface="Consolas"/>
                        </a:rPr>
                        <a:t>−3.90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630"/>
                          </a:solidFill>
                          <a:latin typeface="Calibri"/>
                        </a:rPr>
                        <a:t>~72%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30"/>
                          </a:solidFill>
                          <a:latin typeface="Calibri"/>
                        </a:rPr>
                        <a:t>i2t R1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2451E"/>
                          </a:solidFill>
                          <a:latin typeface="Consolas"/>
                        </a:rPr>
                        <a:t>−16.47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B2451E"/>
                          </a:solidFill>
                          <a:latin typeface="Consolas"/>
                        </a:rPr>
                        <a:t>−6.77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22630"/>
                          </a:solidFill>
                          <a:latin typeface="Calibri"/>
                        </a:rPr>
                        <a:t>~59%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166360"/>
            <a:ext cx="11155680" cy="1143000"/>
          </a:xfrm>
          <a:prstGeom prst="roundRect">
            <a:avLst>
              <a:gd name="adj" fmla="val 12000"/>
            </a:avLst>
          </a:prstGeom>
          <a:solidFill>
            <a:srgbClr val="F6E1D6"/>
          </a:solidFill>
          <a:ln w="9525">
            <a:solidFill>
              <a:srgbClr val="E3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276088"/>
            <a:ext cx="10753344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B2451E"/>
                </a:solidFill>
                <a:latin typeface="Calibri"/>
              </a:rPr>
              <a:t>Every cell is negative. 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Buddy-init is clearly the better of the two initializations — it closes most of the gap — but neither strategy makes the conditioning approach beat simply using frozen CLIP embeddings directly for retrieval, at this scale. The honest claim: “buddy-graph structure is a better initializer,” not yet “this approach beats CLIP retrieval.”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Scaling this pipeline: what it took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6E96"/>
                </a:solidFill>
                <a:latin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D6B"/>
                </a:solidFill>
                <a:latin typeface="Calibri"/>
              </a:rPr>
              <a:t>independent memory / correctness bugs found &amp; fixed — all invisible at 150k, all surfaced by pushing past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6E96"/>
                </a:solidFill>
                <a:latin typeface="Consolas"/>
              </a:rPr>
              <a:t>150k → 300k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D6B"/>
                </a:solidFill>
                <a:latin typeface="Calibri"/>
              </a:rPr>
              <a:t>real, completed sweeps this round; 1M / 3.1M validated for pipeline correctness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6E96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D6B"/>
                </a:solidFill>
                <a:latin typeface="Calibri"/>
              </a:rPr>
              <a:t>new optional approximate-NN backend (cuVS), auto-enabled above 1M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46120"/>
            <a:ext cx="11155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555D6B"/>
                </a:solidFill>
                <a:latin typeface="Calibri"/>
              </a:rPr>
              <a:t>Getting real experiments to run past 150k surfaced and fixed </a:t>
            </a:r>
            <a:r>
              <a:rPr sz="1350" b="1" i="0">
                <a:solidFill>
                  <a:srgbClr val="222630"/>
                </a:solidFill>
                <a:latin typeface="Calibri"/>
              </a:rPr>
              <a:t>five independent memory / correctness bugs</a:t>
            </a:r>
            <a:r>
              <a:rPr sz="1350" b="0" i="0">
                <a:solidFill>
                  <a:srgbClr val="555D6B"/>
                </a:solidFill>
                <a:latin typeface="Calibri"/>
              </a:rPr>
              <a:t> invisible at that scale — most notably an OOM in the spectral-embedding step at N~3M traced to a dtype leak inside scikit-learn’s own solver (fixed via a targeted, re-validated monkeypatch, not a risky reimplementation), and a “5-hour hang” that turned out to be a self-inflicted regression: an earlier OOM fix had silently moved an O(N²) computation from GPU to CPU.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8686800" cy="502920"/>
          </a:xfrm>
          <a:prstGeom prst="roundRect">
            <a:avLst>
              <a:gd name="adj" fmla="val 20000"/>
            </a:avLst>
          </a:prstGeom>
          <a:solidFill>
            <a:srgbClr val="F0EEEA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8321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09B"/>
                </a:solidFill>
                <a:latin typeface="Consolas"/>
              </a:rPr>
              <a:t>Full detail · docs/reports/2026-08-19_buddy_init_ablation_redcaps_300k.md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Where this leaves things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7335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DE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7335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6E96"/>
                </a:solidFill>
                <a:latin typeface="Consolas"/>
              </a:rPr>
              <a:t>C1–C3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6304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D6B"/>
                </a:solidFill>
                <a:latin typeface="Calibri"/>
              </a:rPr>
              <a:t>Robustness of the signal itself: very strong. Real, content-specific, survives 24 held-out-encoder cells and 16 from-scratch graph rebuilds with a semantically coherent consensus 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6E1D6"/>
          </a:solidFill>
          <a:ln w="9525">
            <a:solidFill>
              <a:srgbClr val="E3B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86207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F6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6207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2451E"/>
                </a:solidFill>
                <a:latin typeface="Consolas"/>
              </a:rPr>
              <a:t>C4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D6B"/>
                </a:solidFill>
                <a:latin typeface="Calibri"/>
              </a:rPr>
              <a:t>Training-time exploitation: mostly negative, and the one apparent win was substantially a measured confound.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05079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DE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079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6E96"/>
                </a:solidFill>
                <a:latin typeface="Consolas"/>
              </a:rPr>
              <a:t>C5–C6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4048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D6B"/>
                </a:solidFill>
                <a:latin typeface="Calibri"/>
              </a:rPr>
              <a:t>As an initializer: real, and the RedCaps win reproduces and strengthens at scale — but it’s a win over a weaker in-house baseline, not over raw CLIP, which both strategies still trail.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9204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23951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DE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39512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6E96"/>
                </a:solidFill>
                <a:latin typeface="Consolas"/>
              </a:rPr>
              <a:t>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29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5D6B"/>
                </a:solidFill>
                <a:latin typeface="Calibri"/>
              </a:rPr>
              <a:t>Still supports the primary target (TMLR, an honest rigorous-analysis paper). Does not yet support a stretch-tier “decisive win” claim (ICLR/NeurIPS), which would need a result that actually beats CLIP.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A909B"/>
                </a:solidFill>
                <a:latin typeface="Consolas"/>
              </a:rPr>
              <a:t>CONDITIONAL BUDDIES ·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09B"/>
                </a:solidFill>
                <a:latin typeface="Consolas"/>
              </a:rP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09B"/>
                </a:solidFill>
                <a:latin typeface="Consolas"/>
              </a:rPr>
              <a:t>docs/reports/2026-08-19_weekly_conditional_buddies_slides.md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09B"/>
                </a:solidFill>
                <a:latin typeface="Consolas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630"/>
                </a:solidFill>
                <a:latin typeface="Calibri"/>
              </a:rPr>
              <a:t>Next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noFill/>
          <a:ln w="22225">
            <a:solidFill>
              <a:srgbClr val="1B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527048"/>
            <a:ext cx="9966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D6B"/>
                </a:solidFill>
                <a:latin typeface="Calibri"/>
              </a:rPr>
              <a:t>Resume the 500k RedCaps sweep — started, not finished.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42032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816352"/>
            <a:ext cx="384048" cy="384048"/>
          </a:xfrm>
          <a:prstGeom prst="ellipse">
            <a:avLst/>
          </a:prstGeom>
          <a:noFill/>
          <a:ln w="22225">
            <a:solidFill>
              <a:srgbClr val="1B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651760"/>
            <a:ext cx="9966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D6B"/>
                </a:solidFill>
                <a:latin typeface="Calibri"/>
              </a:rPr>
              <a:t>Run real 1M / 3.1M sweeps — pipeline is now validated correct and fast enough; not yet run for real (only smoke / diagnostic-scale so far).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66744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941064"/>
            <a:ext cx="384048" cy="384048"/>
          </a:xfrm>
          <a:prstGeom prst="ellipse">
            <a:avLst/>
          </a:prstGeom>
          <a:noFill/>
          <a:ln w="22225">
            <a:solidFill>
              <a:srgbClr val="1B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776472"/>
            <a:ext cx="9966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D6B"/>
                </a:solidFill>
                <a:latin typeface="Calibri"/>
              </a:rPr>
              <a:t>Check the CLIP-baseline shortfall at 150k too — not yet re-verified retroactively.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91456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5065776"/>
            <a:ext cx="384048" cy="384048"/>
          </a:xfrm>
          <a:prstGeom prst="ellipse">
            <a:avLst/>
          </a:prstGeom>
          <a:noFill/>
          <a:ln w="22225">
            <a:solidFill>
              <a:srgbClr val="1B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901184"/>
            <a:ext cx="9966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D6B"/>
                </a:solidFill>
                <a:latin typeface="Calibri"/>
              </a:rPr>
              <a:t>Open question, still unresolved: Impressions’ t2i / i2t split under buddy-init — near-duplicate structure, or a genuine trade-off?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